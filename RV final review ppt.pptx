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4" r:id="rId2"/>
    <p:sldId id="285" r:id="rId3"/>
    <p:sldId id="299" r:id="rId4"/>
    <p:sldId id="289" r:id="rId5"/>
    <p:sldId id="290" r:id="rId6"/>
    <p:sldId id="304" r:id="rId7"/>
    <p:sldId id="291" r:id="rId8"/>
    <p:sldId id="292" r:id="rId9"/>
    <p:sldId id="293" r:id="rId10"/>
    <p:sldId id="296" r:id="rId11"/>
    <p:sldId id="300" r:id="rId12"/>
    <p:sldId id="301" r:id="rId13"/>
    <p:sldId id="302" r:id="rId14"/>
    <p:sldId id="297" r:id="rId15"/>
    <p:sldId id="303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98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68131-5298-4BEE-B7B9-2DD77199C1F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F0007-A8C0-44C3-AE2E-E82AF1CF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7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8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7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6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5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9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6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0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0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2F382-24CA-4A18-920E-3341822A05F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70E8-75D1-4810-90F0-4CBF2F86F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2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7797"/>
            <a:ext cx="12192000" cy="6158204"/>
          </a:xfrm>
          <a:prstGeom prst="rect">
            <a:avLst/>
          </a:prstGeom>
          <a:solidFill>
            <a:srgbClr val="002060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031149" y="1373744"/>
            <a:ext cx="7855858" cy="3832439"/>
            <a:chOff x="2394292" y="1690986"/>
            <a:chExt cx="7855858" cy="3832439"/>
          </a:xfrm>
        </p:grpSpPr>
        <p:sp>
          <p:nvSpPr>
            <p:cNvPr id="9" name="object 7"/>
            <p:cNvSpPr txBox="1">
              <a:spLocks/>
            </p:cNvSpPr>
            <p:nvPr/>
          </p:nvSpPr>
          <p:spPr>
            <a:xfrm>
              <a:off x="2394292" y="1690986"/>
              <a:ext cx="7855858" cy="9917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>
              <a:lvl1pPr>
                <a:defRPr sz="2400" b="0" i="0">
                  <a:solidFill>
                    <a:schemeClr val="tx1"/>
                  </a:solidFill>
                  <a:latin typeface="Arial MT"/>
                  <a:ea typeface="+mj-ea"/>
                  <a:cs typeface="Arial MT"/>
                </a:defRPr>
              </a:lvl1pPr>
            </a:lstStyle>
            <a:p>
              <a:pPr marL="12700" algn="ctr">
                <a:spcBef>
                  <a:spcPts val="100"/>
                </a:spcBef>
              </a:pPr>
              <a:r>
                <a:rPr lang="en-US" sz="3200" dirty="0">
                  <a:solidFill>
                    <a:schemeClr val="bg1"/>
                  </a:solidFill>
                </a:rPr>
                <a:t>Crowd Monitoring Robot using YOLO and Deep SORT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object 7"/>
            <p:cNvSpPr txBox="1">
              <a:spLocks/>
            </p:cNvSpPr>
            <p:nvPr/>
          </p:nvSpPr>
          <p:spPr>
            <a:xfrm>
              <a:off x="3671396" y="2997092"/>
              <a:ext cx="5306282" cy="2526333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>
              <a:lvl1pPr>
                <a:defRPr sz="2400" b="0" i="0">
                  <a:solidFill>
                    <a:schemeClr val="tx1"/>
                  </a:solidFill>
                  <a:latin typeface="Arial MT"/>
                  <a:ea typeface="+mj-ea"/>
                  <a:cs typeface="Arial MT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en-US" sz="2000" b="1" dirty="0">
                  <a:solidFill>
                    <a:schemeClr val="bg1"/>
                  </a:solidFill>
                </a:rPr>
                <a:t>Team Number: A6</a:t>
              </a:r>
              <a:endParaRPr lang="en-US" dirty="0"/>
            </a:p>
            <a:p>
              <a:pPr marL="12700">
                <a:spcBef>
                  <a:spcPts val="100"/>
                </a:spcBef>
              </a:pPr>
              <a:endParaRPr lang="en-US" sz="2000" b="1" dirty="0">
                <a:solidFill>
                  <a:schemeClr val="bg1"/>
                </a:solidFill>
              </a:endParaRPr>
            </a:p>
            <a:p>
              <a:pPr marL="12700">
                <a:spcBef>
                  <a:spcPts val="100"/>
                </a:spcBef>
              </a:pPr>
              <a:r>
                <a:rPr lang="en-US" sz="2000" b="1" dirty="0">
                  <a:solidFill>
                    <a:schemeClr val="bg1"/>
                  </a:solidFill>
                </a:rPr>
                <a:t>Team Members: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K B Mani Rohith - CB.AI.U4AID23016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sz="2000" dirty="0">
                  <a:solidFill>
                    <a:schemeClr val="bg1"/>
                  </a:solidFill>
                </a:rPr>
                <a:t>Ram Lasya - CB.AI.U4AID23030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sz="2000" dirty="0">
                  <a:solidFill>
                    <a:schemeClr val="bg1"/>
                  </a:solidFill>
                </a:rPr>
                <a:t>Sai Venkata Ganesh - CB.AI.U4AID23049</a:t>
              </a:r>
              <a:endParaRPr lang="en-US" dirty="0">
                <a:solidFill>
                  <a:schemeClr val="bg1"/>
                </a:solidFill>
              </a:endParaRPr>
            </a:p>
            <a:p>
              <a:pPr marL="12700">
                <a:spcBef>
                  <a:spcPts val="100"/>
                </a:spcBef>
              </a:pPr>
              <a:r>
                <a:rPr lang="en-US" sz="2000" dirty="0">
                  <a:solidFill>
                    <a:schemeClr val="bg1"/>
                  </a:solidFill>
                </a:rPr>
                <a:t>M Abhishiktha - CB.AI.U4AID23063</a:t>
              </a:r>
              <a:endParaRPr lang="en-US" dirty="0">
                <a:solidFill>
                  <a:schemeClr val="bg1"/>
                </a:solidFill>
              </a:endParaRPr>
            </a:p>
            <a:p>
              <a:pPr marL="12700">
                <a:spcBef>
                  <a:spcPts val="100"/>
                </a:spcBef>
              </a:pP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11" name="object 7"/>
          <p:cNvSpPr txBox="1">
            <a:spLocks/>
          </p:cNvSpPr>
          <p:nvPr/>
        </p:nvSpPr>
        <p:spPr>
          <a:xfrm>
            <a:off x="5964283" y="6356406"/>
            <a:ext cx="922907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>
                <a:solidFill>
                  <a:srgbClr val="000000"/>
                </a:solidFill>
              </a:rPr>
              <a:t>19/01/2026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object 7"/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1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DBF9B-310E-B3F5-C337-21E473A57A8F}"/>
              </a:ext>
            </a:extLst>
          </p:cNvPr>
          <p:cNvSpPr/>
          <p:nvPr/>
        </p:nvSpPr>
        <p:spPr>
          <a:xfrm>
            <a:off x="89332" y="180993"/>
            <a:ext cx="11947158" cy="58782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6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/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/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/>
          <p:cNvSpPr txBox="1">
            <a:spLocks/>
          </p:cNvSpPr>
          <p:nvPr/>
        </p:nvSpPr>
        <p:spPr>
          <a:xfrm>
            <a:off x="301258" y="91892"/>
            <a:ext cx="289095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Contents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16745C-0E92-FD09-8125-77CEC88F4118}"/>
              </a:ext>
            </a:extLst>
          </p:cNvPr>
          <p:cNvSpPr txBox="1"/>
          <p:nvPr/>
        </p:nvSpPr>
        <p:spPr>
          <a:xfrm>
            <a:off x="889008" y="1102426"/>
            <a:ext cx="1015054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Introduction</a:t>
            </a: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Problem Statement</a:t>
            </a:r>
            <a:endParaRPr lang="en-US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Objective of the Project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System Overview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Methodology 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Crowd Counting and </a:t>
            </a:r>
            <a:r>
              <a:rPr lang="en-US" sz="2400" dirty="0">
                <a:latin typeface="Times New Roman"/>
                <a:ea typeface="+mn-lt"/>
                <a:cs typeface="+mn-lt"/>
              </a:rPr>
              <a:t>Behavior Analysis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Heatmap Analysis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Results and Conclusion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Performance and Loss Analysis</a:t>
            </a: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cs typeface="Times New Roman"/>
              </a:rPr>
              <a:t>Crowd Density and Alert Analysis </a:t>
            </a: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cs typeface="Times New Roman"/>
              </a:rPr>
              <a:t>Heatmap</a:t>
            </a: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References</a:t>
            </a:r>
            <a:endParaRPr lang="en-GB" sz="2400" dirty="0">
              <a:latin typeface="Times New Roman"/>
              <a:cs typeface="Times New Roman"/>
            </a:endParaRPr>
          </a:p>
          <a:p>
            <a:pPr algn="l"/>
            <a:endParaRPr lang="en-GB" sz="24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507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7B1AA-FDBF-1470-D586-1BEB9027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04525B-2F7D-D7B1-A7D8-2BD1CAB11629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FB0FA6-284B-15BC-4BBF-F8379E8216BD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A25AC9-C38C-290F-9D99-2E08D1BAB5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C3F06020-0EE9-B0B6-BFE3-B1967DADD836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BEB34C53-131D-0B4F-014A-C9228FB84B86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EBC5FDC-F478-8F22-910B-6BD00A7313EB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289095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31D1D-6959-5988-C638-E6EF5CA87759}"/>
              </a:ext>
            </a:extLst>
          </p:cNvPr>
          <p:cNvSpPr txBox="1"/>
          <p:nvPr/>
        </p:nvSpPr>
        <p:spPr>
          <a:xfrm>
            <a:off x="1059655" y="1414272"/>
            <a:ext cx="1015054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project focuses on using computer vision and artificial intelligence to monitor crowd density in video surveillance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A head detection model is trained using annotated images to accurately identify people in video frames.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analyses each frame of the video, detects heads, and counts the number of people in a defined alert area.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crowd exceeds a specified threshold, the system triggers an alert.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helps improve public safety by automatically detecting overcrowding and </a:t>
            </a:r>
            <a:r>
              <a:rPr lang="en-US" sz="2400" dirty="0" err="1"/>
              <a:t>analysing</a:t>
            </a:r>
            <a:r>
              <a:rPr lang="en-US" sz="2400" dirty="0"/>
              <a:t> crowd </a:t>
            </a:r>
            <a:r>
              <a:rPr lang="en-US" sz="2400" dirty="0" err="1"/>
              <a:t>behaviour</a:t>
            </a:r>
            <a:r>
              <a:rPr lang="en-US" sz="2400" dirty="0"/>
              <a:t> in real time.</a:t>
            </a:r>
            <a:br>
              <a:rPr lang="en-US" sz="2400" dirty="0"/>
            </a:br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73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2C08-8F26-47B1-F870-BC7AF0CD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2AFCEB-D91B-C331-F712-57FD0136F500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7F3B68-FDEE-8211-AE26-7A6D0F24B3D9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6FA3E2-0DA1-C37A-532F-3B8541A0F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BB1EA091-20BA-910C-F858-E683D7368360}"/>
              </a:ext>
            </a:extLst>
          </p:cNvPr>
          <p:cNvSpPr txBox="1">
            <a:spLocks/>
          </p:cNvSpPr>
          <p:nvPr/>
        </p:nvSpPr>
        <p:spPr>
          <a:xfrm>
            <a:off x="5766931" y="6350924"/>
            <a:ext cx="966763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6E9CA4C3-9C55-F49B-2B46-A69ADAD0F710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12FE671A-1A47-C507-85E6-10F551B00656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463971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Problem Statement</a:t>
            </a:r>
            <a:endParaRPr lang="en-US" dirty="0">
              <a:solidFill>
                <a:srgbClr val="14198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36D19E-8225-8247-8149-33D18BF9E36E}"/>
              </a:ext>
            </a:extLst>
          </p:cNvPr>
          <p:cNvSpPr txBox="1"/>
          <p:nvPr/>
        </p:nvSpPr>
        <p:spPr>
          <a:xfrm>
            <a:off x="929026" y="1908795"/>
            <a:ext cx="1015054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Manually monitoring crowd density in public places using CCTV cameras is difficult and inefficient.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a need for an automated system that can detect people in videos and identify overcrowding in specific areas in real time.</a:t>
            </a:r>
            <a:br>
              <a:rPr lang="en-US" sz="2400" dirty="0"/>
            </a:br>
            <a:endParaRPr lang="en-US" sz="2400" dirty="0"/>
          </a:p>
          <a:p>
            <a:pPr marL="285750" indent="-285750" algn="l">
              <a:buFont typeface="Arial"/>
              <a:buChar char="•"/>
            </a:pPr>
            <a:endParaRPr lang="en-GB" sz="24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64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EF0A-937F-6ED4-A6C7-EBF055B4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112BBE-434F-1908-94DB-60B02CF2E893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924EFC-9837-661C-8AFB-5C0C2060181D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708EC89-76C6-FAB2-B63D-66224F974C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3C07F238-1F82-6508-C6F6-E1C625212232}"/>
              </a:ext>
            </a:extLst>
          </p:cNvPr>
          <p:cNvSpPr txBox="1">
            <a:spLocks/>
          </p:cNvSpPr>
          <p:nvPr/>
        </p:nvSpPr>
        <p:spPr>
          <a:xfrm>
            <a:off x="5783377" y="6339960"/>
            <a:ext cx="78037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A8083C26-F0D6-9B01-5E53-33BC1DA964B6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4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1AB1A465-5E2D-D86A-3F3F-C6FCAC93E968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5231771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Objective of the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EC7F7-73F6-6DAD-494A-905664F226CE}"/>
              </a:ext>
            </a:extLst>
          </p:cNvPr>
          <p:cNvSpPr txBox="1"/>
          <p:nvPr/>
        </p:nvSpPr>
        <p:spPr>
          <a:xfrm>
            <a:off x="1059655" y="1414272"/>
            <a:ext cx="1015054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Times New Roman"/>
                <a:ea typeface="+mn-lt"/>
                <a:cs typeface="+mn-lt"/>
              </a:rPr>
              <a:t>The objective of this project is to design a vision-based crowd monitoring system that:</a:t>
            </a:r>
            <a:endParaRPr lang="en-GB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develop an AI-based system that detects human heads in images and video frames using object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monitor crowd density in a defined alert area and identify overcrowding situations.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</a:t>
            </a:r>
            <a:r>
              <a:rPr lang="en-US" sz="2400" dirty="0" err="1"/>
              <a:t>analyse</a:t>
            </a:r>
            <a:r>
              <a:rPr lang="en-US" sz="2400" dirty="0"/>
              <a:t> crowd behavior by recording detection data and generating visual graphs.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improve public safety by automatically detecting and alerting when crowd limits are exceeded.</a:t>
            </a:r>
          </a:p>
          <a:p>
            <a:pPr marL="342900" indent="-342900" algn="l">
              <a:buFont typeface="Arial"/>
              <a:buChar char="•"/>
            </a:pPr>
            <a:endParaRPr lang="en-GB" sz="24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93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B1AD-A08F-9581-771A-BF58BEB9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9CBB67-D773-EBDA-ABD1-4A9CE47CB4C9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80401B-73D3-0D53-5539-8CFD557F7F93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86C1D10-F051-C476-322D-BFFD3CF640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BD2C1E04-D0F4-1CC1-811F-84FA7DE54FD1}"/>
              </a:ext>
            </a:extLst>
          </p:cNvPr>
          <p:cNvSpPr txBox="1">
            <a:spLocks/>
          </p:cNvSpPr>
          <p:nvPr/>
        </p:nvSpPr>
        <p:spPr>
          <a:xfrm>
            <a:off x="5783377" y="6339960"/>
            <a:ext cx="78037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4084932E-DBEF-5148-3DAD-BBEC64054A0B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5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C4339D9A-6058-7DA0-27A2-4041B674259D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3981493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689AEB-45D3-E5DF-7D0B-1CB5EC0BF3FC}"/>
              </a:ext>
            </a:extLst>
          </p:cNvPr>
          <p:cNvSpPr txBox="1"/>
          <p:nvPr/>
        </p:nvSpPr>
        <p:spPr>
          <a:xfrm>
            <a:off x="1059655" y="1414272"/>
            <a:ext cx="101505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 sz="2400" dirty="0">
              <a:latin typeface="Times New Roman"/>
              <a:ea typeface="Calibri"/>
              <a:cs typeface="Calibri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21A055-5E60-37AB-D38E-63182D0CA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390220"/>
              </p:ext>
            </p:extLst>
          </p:nvPr>
        </p:nvGraphicFramePr>
        <p:xfrm>
          <a:off x="233266" y="697815"/>
          <a:ext cx="11551297" cy="546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91">
                  <a:extLst>
                    <a:ext uri="{9D8B030D-6E8A-4147-A177-3AD203B41FA5}">
                      <a16:colId xmlns:a16="http://schemas.microsoft.com/office/drawing/2014/main" val="3287901929"/>
                    </a:ext>
                  </a:extLst>
                </a:gridCol>
                <a:gridCol w="2911987">
                  <a:extLst>
                    <a:ext uri="{9D8B030D-6E8A-4147-A177-3AD203B41FA5}">
                      <a16:colId xmlns:a16="http://schemas.microsoft.com/office/drawing/2014/main" val="4075614701"/>
                    </a:ext>
                  </a:extLst>
                </a:gridCol>
                <a:gridCol w="528413">
                  <a:extLst>
                    <a:ext uri="{9D8B030D-6E8A-4147-A177-3AD203B41FA5}">
                      <a16:colId xmlns:a16="http://schemas.microsoft.com/office/drawing/2014/main" val="3733013469"/>
                    </a:ext>
                  </a:extLst>
                </a:gridCol>
                <a:gridCol w="3134658">
                  <a:extLst>
                    <a:ext uri="{9D8B030D-6E8A-4147-A177-3AD203B41FA5}">
                      <a16:colId xmlns:a16="http://schemas.microsoft.com/office/drawing/2014/main" val="3652772827"/>
                    </a:ext>
                  </a:extLst>
                </a:gridCol>
                <a:gridCol w="2239041">
                  <a:extLst>
                    <a:ext uri="{9D8B030D-6E8A-4147-A177-3AD203B41FA5}">
                      <a16:colId xmlns:a16="http://schemas.microsoft.com/office/drawing/2014/main" val="4029787338"/>
                    </a:ext>
                  </a:extLst>
                </a:gridCol>
                <a:gridCol w="2286807">
                  <a:extLst>
                    <a:ext uri="{9D8B030D-6E8A-4147-A177-3AD203B41FA5}">
                      <a16:colId xmlns:a16="http://schemas.microsoft.com/office/drawing/2014/main" val="2885386241"/>
                    </a:ext>
                  </a:extLst>
                </a:gridCol>
              </a:tblGrid>
              <a:tr h="5244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S.No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Name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Year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Idea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Method Used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Research Gap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94993"/>
                  </a:ext>
                </a:extLst>
              </a:tr>
              <a:tr h="64782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Human Detection and Crowd Counting using YOLO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Detect and count people in crowded scenes for surveillance applications.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YOLO object detection with deep learning models.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Accuracy decreases in highly dense crowds and complex environments.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038730"/>
                  </a:ext>
                </a:extLst>
              </a:tr>
              <a:tr h="64782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 YOLO-Based Method for Real-Time Crowd Detection from Video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Detect people in a predefined area and monitor crowd size in real time.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YOLO models trained on COCO dataset with region-based counting.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Limited ability to analyze crowd behavior or movement patterns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351647"/>
                  </a:ext>
                </a:extLst>
              </a:tr>
              <a:tr h="57488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3.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Crowd Density Prediction using Deep Learning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2024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Estimate crowd density from images using deep learning models.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CNN-based crowd density estimation techniques.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Does not focus on real-time video surveillance applications.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403673"/>
                  </a:ext>
                </a:extLst>
              </a:tr>
              <a:tr h="64782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4.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Smart Crowd Monitoring System using IoT and YOLO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2024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Real-time crowd monitoring system integrated with IoT-based surveillance.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YOLO detection combined with IoT devices and video analytics.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Requires additional hardware and complex deployment infrastructure.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000609"/>
                  </a:ext>
                </a:extLst>
              </a:tr>
              <a:tr h="57316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5.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Human Detection and Counting using YOLOv4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2024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Detect and count humans using YOLOv4 with high real-time performance.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CNN-based YOLOv4 detection and Flask-based deployment.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Limited crowd density analysis and visualization techniques.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651851"/>
                  </a:ext>
                </a:extLst>
              </a:tr>
              <a:tr h="54853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6.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Estimating Crowd Density with Edge Intelligence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Improve real-time crowd density estimation using lightweight models for edge devices.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MobileNetV2 based CNN with dilated convolution.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Accuracy trade-off due to lightweight model design.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362871"/>
                  </a:ext>
                </a:extLst>
              </a:tr>
              <a:tr h="64782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7.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Crowd Density Estimation for Video Surveillance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Review of deep learning methods for analyzing crowd density in surveillance videos.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Transfer learning and deep CNN-based crowd analysis.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Most methods focus only on density estimation and not detection-based counting.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73874"/>
                  </a:ext>
                </a:extLst>
              </a:tr>
              <a:tr h="64782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8.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Density Estimation and Crowd Counting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2025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Improve crowd counting accuracy using density map generation techniques.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Diffusion-based probabilistic models for density map estimation.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High computational complexity and limited real-time deployment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5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30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D693-BF26-1597-4190-D82F13F5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E71911-B14A-EF44-6A85-6380A6317C66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3EDC7B-EA4A-BBEA-477F-BA491C3EAFDC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5762262-364E-33F7-4705-E43FDEB00E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EBFE48F8-45E6-8478-86AF-276071F35050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C32D01B-F3B9-F09B-D1FA-6B8A62831D75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6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36CC85A0-0FD2-35BE-0F4B-CD6A114A0273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4283384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System Overview</a:t>
            </a:r>
            <a:endParaRPr lang="en-US" dirty="0">
              <a:solidFill>
                <a:srgbClr val="14198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649265-9D24-7092-BFE2-81E5E85EA975}"/>
              </a:ext>
            </a:extLst>
          </p:cNvPr>
          <p:cNvSpPr txBox="1"/>
          <p:nvPr/>
        </p:nvSpPr>
        <p:spPr>
          <a:xfrm>
            <a:off x="1059655" y="1414272"/>
            <a:ext cx="1015054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Dataset Preparation: </a:t>
            </a:r>
            <a:r>
              <a:rPr lang="en-US" sz="2400" dirty="0"/>
              <a:t>Images containing human heads are collected and annotated in </a:t>
            </a:r>
            <a:r>
              <a:rPr lang="en-US" sz="2400" dirty="0" err="1"/>
              <a:t>Roboflow</a:t>
            </a:r>
            <a:r>
              <a:rPr lang="en-US" sz="2400" dirty="0"/>
              <a:t> to create a dataset for training the detection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Model Training: </a:t>
            </a:r>
            <a:r>
              <a:rPr lang="en-US" sz="2400" dirty="0"/>
              <a:t>A YOLOv11 object detection model is trained on the dataset to accurately detect human heads in images and video frames.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Video Processing: </a:t>
            </a:r>
            <a:r>
              <a:rPr lang="en-US" sz="2400" dirty="0"/>
              <a:t>The trained model is integrated with a Python program that processes the input video frame by frame using OpenCV.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Crowd Detection and Monitoring: </a:t>
            </a:r>
            <a:r>
              <a:rPr lang="en-US" sz="2400" dirty="0"/>
              <a:t>The system detects heads in each frame, counts the number of people, and checks how many are inside a predefined alert zone.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Alert and Data Analysis: </a:t>
            </a:r>
            <a:r>
              <a:rPr lang="en-US" sz="2400" dirty="0"/>
              <a:t>If the number of people in the alert area exceeds a set threshold, the system triggers an alert and stores the data for further analysis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33586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BD3E-D6C4-CCA6-1D37-5EB934FE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137A9E-8FE6-3BD3-A6CE-6308DBA9E141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A205C3-625B-407E-D8AE-BF529CEB8FFE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B10FCEB-DA0A-6CC0-25AC-18B471C97A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AE5ABF38-F3B1-8108-2CCC-7EB5D217F051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E73D6473-9345-8D48-71A5-4B1902E48421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7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84F90940-2232-61E2-E0E0-7C398F6B429D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341174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Methodology</a:t>
            </a:r>
            <a:endParaRPr lang="en-US" dirty="0">
              <a:solidFill>
                <a:srgbClr val="14198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A82FA-7203-BA76-147A-D71B4BAC1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47" y="714051"/>
            <a:ext cx="8406104" cy="54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4148-EC32-B872-E8F6-C49A5589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9FA3F7-681F-C1FA-9B58-E04811688F2C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39130E-8CAF-C1BE-CE89-76AE7B1BFBC2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ABC20-4342-AD7D-8EF5-D4183A69D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EBDA2CE4-5723-A0ED-5387-41217430C33F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66C98D3-80C1-4210-2706-0C56BE0DDF79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</a:t>
            </a:r>
            <a:r>
              <a:rPr lang="en-US" sz="1200" b="1" dirty="0">
                <a:solidFill>
                  <a:srgbClr val="000000"/>
                </a:solidFill>
              </a:rPr>
              <a:t> 8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69040647-4A01-0D57-7D71-382A9E908A03}"/>
              </a:ext>
            </a:extLst>
          </p:cNvPr>
          <p:cNvSpPr txBox="1">
            <a:spLocks/>
          </p:cNvSpPr>
          <p:nvPr/>
        </p:nvSpPr>
        <p:spPr>
          <a:xfrm>
            <a:off x="301257" y="91892"/>
            <a:ext cx="858148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Crowd Counting and Behavior Analysis</a:t>
            </a:r>
            <a:endParaRPr lang="en-US" b="1" dirty="0">
              <a:solidFill>
                <a:srgbClr val="14198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183B60-9FEC-3972-0B81-E1F752A3B5FA}"/>
              </a:ext>
            </a:extLst>
          </p:cNvPr>
          <p:cNvSpPr txBox="1"/>
          <p:nvPr/>
        </p:nvSpPr>
        <p:spPr>
          <a:xfrm>
            <a:off x="1059655" y="1392344"/>
            <a:ext cx="1013958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Head Detection and Counting: </a:t>
            </a:r>
            <a:r>
              <a:rPr lang="en-US" sz="2400" dirty="0"/>
              <a:t>The system detects human heads in each video frame using the trained model and counts the total number of people present.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Zone Monitoring: </a:t>
            </a:r>
            <a:r>
              <a:rPr lang="en-US" sz="2400" dirty="0"/>
              <a:t>A predefined alert area is created in the video, and the system checks how many detected people fall inside this zone.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Crowd Density Analysis: </a:t>
            </a:r>
            <a:r>
              <a:rPr lang="en-US" sz="2400" dirty="0"/>
              <a:t>The system continuously monitors the number of people in the alert area to understand the crowd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Overcrowding Detection: </a:t>
            </a:r>
            <a:r>
              <a:rPr lang="en-US" sz="2400" dirty="0"/>
              <a:t>If the number of people in the zone exceeds the predefined threshold, the system identifies it as overcrowding and triggers an alert.</a:t>
            </a:r>
          </a:p>
        </p:txBody>
      </p:sp>
    </p:spTree>
    <p:extLst>
      <p:ext uri="{BB962C8B-B14F-4D97-AF65-F5344CB8AC3E}">
        <p14:creationId xmlns:p14="http://schemas.microsoft.com/office/powerpoint/2010/main" val="53487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36CF-A1E7-545B-67A5-0D80C2E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9A5D4B-A3B0-3C7D-9BC6-13801B3BC032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E09E82-B60E-CB7C-126C-DB3F72F3E502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534F0AA-28E6-8D30-3B85-4327055E74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0A4D65D7-5147-7BB1-5850-BF9307B938B6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4C0D6748-F017-B808-3F50-ED28D8380ED5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</a:t>
            </a:r>
            <a:r>
              <a:rPr lang="en-US" sz="1200" b="1" dirty="0">
                <a:solidFill>
                  <a:srgbClr val="000000"/>
                </a:solidFill>
              </a:rPr>
              <a:t> 9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A360DEF0-2D28-41CA-1F97-646E9DA5C40B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515502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Results and Conclusion</a:t>
            </a:r>
            <a:endParaRPr lang="en-US" dirty="0">
              <a:solidFill>
                <a:srgbClr val="14198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7AB65-9708-44C8-BE00-F1794E4511AB}"/>
              </a:ext>
            </a:extLst>
          </p:cNvPr>
          <p:cNvSpPr txBox="1"/>
          <p:nvPr/>
        </p:nvSpPr>
        <p:spPr>
          <a:xfrm>
            <a:off x="1059655" y="1392344"/>
            <a:ext cx="1013958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trained YOLO model successfully detected human heads in video frames with high accuracy (around 96.4% </a:t>
            </a:r>
            <a:r>
              <a:rPr lang="en-US" sz="2400" dirty="0" err="1"/>
              <a:t>mAP</a:t>
            </a:r>
            <a:r>
              <a:rPr lang="en-US" sz="24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was able to count people and monitor crowd density in the defined alert zone in real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Overcrowding situations were detected when the number of people exceeded the predefined threshold.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generated useful outputs such as processed detection videos, crowd statistics, and analysis graphs.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Overall, the project demonstrates that AI-based computer vision can effectively support automated crowd monitoring and improve public safety.</a:t>
            </a:r>
          </a:p>
        </p:txBody>
      </p:sp>
    </p:spTree>
    <p:extLst>
      <p:ext uri="{BB962C8B-B14F-4D97-AF65-F5344CB8AC3E}">
        <p14:creationId xmlns:p14="http://schemas.microsoft.com/office/powerpoint/2010/main" val="392354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36886-2DBC-77F7-ABFB-1BF9F7B6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36A348-5E5F-BECF-FC68-F36FA8B9A5F7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096DFC-5C99-A158-AFF1-F06AC2CD1495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3CC3AA2-8EE5-D4A5-9655-FE088961A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979478B4-67C1-E2FD-6B5F-26810E3E1D77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465F5D8-92E5-79D4-C5E7-E5EF921FDCF2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</a:t>
            </a:r>
            <a:r>
              <a:rPr lang="en-US" sz="1200" b="1" dirty="0">
                <a:solidFill>
                  <a:srgbClr val="000000"/>
                </a:solidFill>
              </a:rPr>
              <a:t> 10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E1094007-2877-11D3-A56D-6502345E2D19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936945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Model Training Performance and Loss Analysis</a:t>
            </a:r>
            <a:endParaRPr lang="en-US" b="1" dirty="0">
              <a:solidFill>
                <a:srgbClr val="14198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4262F-9E3D-2FDF-6250-2D16AD4C0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287" y="806169"/>
            <a:ext cx="6885992" cy="25564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509A27-0F69-3239-7DE2-00D6EE6BA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46" y="3636919"/>
            <a:ext cx="10111274" cy="24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0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9FAC-1A35-D29B-2F41-A9EA24ED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BCC0E1-225C-E527-B6D0-29A11FC7AE17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FBF68D-6345-BA63-E1D0-0A9404E85CA7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FF4B6A6-59FA-F7E0-EF1D-ACAE7147B9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04DF0362-EDF4-B6A3-A351-66C3FBB2F26C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EA5876A-F483-59A3-4F6C-1464F2847C32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</a:t>
            </a:r>
            <a:r>
              <a:rPr lang="en-US" sz="1200" b="1" dirty="0">
                <a:solidFill>
                  <a:srgbClr val="000000"/>
                </a:solidFill>
              </a:rPr>
              <a:t> 11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5E542FFE-9DE2-D402-5F93-ED3F91DC87B3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7415158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Crowd Density and Alert Analysis</a:t>
            </a:r>
            <a:r>
              <a:rPr lang="en-US" sz="3200" dirty="0">
                <a:solidFill>
                  <a:srgbClr val="141984"/>
                </a:solidFill>
              </a:rPr>
              <a:t> </a:t>
            </a:r>
            <a:endParaRPr lang="en-US" dirty="0">
              <a:solidFill>
                <a:srgbClr val="14198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73FD5-3BC5-CC6B-1EAF-509A012F83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55" y="1115785"/>
            <a:ext cx="4601547" cy="4601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245886-D75E-0E65-B430-AE41F3F323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123" y="1625894"/>
            <a:ext cx="7212422" cy="360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8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66125-556A-84CC-DD66-183506CD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B092F7-A9CC-5409-C6B0-15A6BFE84A34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D1638-EBBB-97BF-B12E-EBC05D192E18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B5B6C43-C4B6-7163-EB23-C37C94BA7A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BAA9E697-428C-E502-792F-B2F98ABF6843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92E0B31A-2BCA-223D-AD0A-25043404C88F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</a:t>
            </a:r>
            <a:r>
              <a:rPr lang="en-US" sz="1200" b="1" dirty="0">
                <a:solidFill>
                  <a:srgbClr val="000000"/>
                </a:solidFill>
              </a:rPr>
              <a:t> 12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AF661700-79EB-887D-483F-2358E609473E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5155025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Heatmap</a:t>
            </a:r>
            <a:endParaRPr lang="en-US" dirty="0">
              <a:solidFill>
                <a:srgbClr val="14198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8B77A-D324-881F-67F7-3BE21DC646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9" y="1624940"/>
            <a:ext cx="6251243" cy="3394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0C7BED-823F-B665-9325-7D036D291DB2}"/>
              </a:ext>
            </a:extLst>
          </p:cNvPr>
          <p:cNvSpPr txBox="1"/>
          <p:nvPr/>
        </p:nvSpPr>
        <p:spPr>
          <a:xfrm>
            <a:off x="7035282" y="1776316"/>
            <a:ext cx="49918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heatmap shows how frequently people appear in different areas of the video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and yellow areas indicate locations with high crowd concentration, while blue areas represent low or no crowd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bright regions highlight crowd hotspots, showing where people tend to gather the most.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visualization helps understand crowd movement patterns and crowded zones, which is useful for monitoring and safety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1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B81BF-679B-9553-2509-4548A01B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803832-A9E0-F614-5794-FCB7E53F2274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04A1F0-547D-7C52-B5D1-A70D43EF4C81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3FDECBF-0A9A-2026-F273-ECFB7F1D1C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9D24692D-6578-7910-5580-9C180A974528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A5A9050C-D3FE-C40C-0F34-9CAB57104FE0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13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D6ED30E-1C8C-C29D-8DBB-37B343B830EF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2847097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5256A9-58DA-B1B8-CFCC-CB4A3835C81A}"/>
              </a:ext>
            </a:extLst>
          </p:cNvPr>
          <p:cNvSpPr txBox="1"/>
          <p:nvPr/>
        </p:nvSpPr>
        <p:spPr>
          <a:xfrm>
            <a:off x="878749" y="986675"/>
            <a:ext cx="1067682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Improved Detection Accuracy: </a:t>
            </a:r>
            <a:r>
              <a:rPr lang="en-US" sz="2400" dirty="0"/>
              <a:t>Future work can include training the model with larger and more diverse datasets to improve detection accuracy in complex or highly crowded environments.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Integration with Smart Alert Systems: </a:t>
            </a:r>
            <a:r>
              <a:rPr lang="en-US" sz="2400" dirty="0"/>
              <a:t>The system can be connected with automated alert systems or mobile notifications to instantly inform security personnel when overcrowding is detected.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582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9319-5B72-3467-3C96-70049ED7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B98250-49B7-0862-48DA-0A9EDC4FABC2}"/>
              </a:ext>
            </a:extLst>
          </p:cNvPr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176F52-C14F-F506-709C-58E6372EB759}"/>
              </a:ext>
            </a:extLst>
          </p:cNvPr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EC173B6-CBA6-5609-6B15-A35CBA006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7AF007EC-4A58-CCFD-8A73-F99CA067285D}"/>
              </a:ext>
            </a:extLst>
          </p:cNvPr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144E2D2-DF04-7D22-6890-4B6B71E0BF2B}"/>
              </a:ext>
            </a:extLst>
          </p:cNvPr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14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8CFFAA8-3825-EDD5-5BFD-4C31CB96BA42}"/>
              </a:ext>
            </a:extLst>
          </p:cNvPr>
          <p:cNvSpPr txBox="1">
            <a:spLocks/>
          </p:cNvSpPr>
          <p:nvPr/>
        </p:nvSpPr>
        <p:spPr>
          <a:xfrm>
            <a:off x="301258" y="91892"/>
            <a:ext cx="2847097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3200" b="1" dirty="0">
                <a:solidFill>
                  <a:srgbClr val="141984"/>
                </a:solidFill>
              </a:rPr>
              <a:t>References</a:t>
            </a:r>
            <a:endParaRPr lang="en-US" dirty="0">
              <a:solidFill>
                <a:srgbClr val="14198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AE1B45-E8CC-B39A-7CED-3B586B9B58E1}"/>
              </a:ext>
            </a:extLst>
          </p:cNvPr>
          <p:cNvSpPr txBox="1"/>
          <p:nvPr/>
        </p:nvSpPr>
        <p:spPr>
          <a:xfrm>
            <a:off x="878749" y="986675"/>
            <a:ext cx="10676822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latin typeface="Times New Roman"/>
                <a:ea typeface="+mn-lt"/>
                <a:cs typeface="+mn-lt"/>
              </a:rPr>
              <a:t>[1] X. Xiao and X. Feng, “Multi-Object Pedestrian Tracking Using Improved YOLOv8 and OC-SORT,” </a:t>
            </a:r>
            <a:r>
              <a:rPr lang="en-GB" sz="2400" i="1">
                <a:latin typeface="Times New Roman"/>
                <a:ea typeface="+mn-lt"/>
                <a:cs typeface="+mn-lt"/>
              </a:rPr>
              <a:t>Sensors</a:t>
            </a:r>
            <a:r>
              <a:rPr lang="en-GB" sz="2400">
                <a:latin typeface="Times New Roman"/>
                <a:ea typeface="+mn-lt"/>
                <a:cs typeface="+mn-lt"/>
              </a:rPr>
              <a:t>, vol. 23, no. 20, 2023. 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GB" sz="2400" dirty="0">
                <a:latin typeface="Times New Roman"/>
                <a:ea typeface="+mn-lt"/>
                <a:cs typeface="+mn-lt"/>
              </a:rPr>
              <a:t>[2] M. </a:t>
            </a:r>
            <a:r>
              <a:rPr lang="en-GB" sz="2400" err="1">
                <a:latin typeface="Times New Roman"/>
                <a:ea typeface="+mn-lt"/>
                <a:cs typeface="+mn-lt"/>
              </a:rPr>
              <a:t>Badauraudine</a:t>
            </a:r>
            <a:r>
              <a:rPr lang="en-GB" sz="2400" dirty="0">
                <a:latin typeface="Times New Roman"/>
                <a:ea typeface="+mn-lt"/>
                <a:cs typeface="+mn-lt"/>
              </a:rPr>
              <a:t>, M. N. M. Noor, M. S. Othman, and H. B. M. Nasir, “Detection and Tracking of People in a Dense Crowd through Deep Learning Approach – A Systematic Literature Review,” </a:t>
            </a:r>
            <a:r>
              <a:rPr lang="en-GB" sz="2400" i="1" dirty="0">
                <a:latin typeface="Times New Roman"/>
                <a:ea typeface="+mn-lt"/>
                <a:cs typeface="+mn-lt"/>
              </a:rPr>
              <a:t>Information Research Communications</a:t>
            </a:r>
            <a:r>
              <a:rPr lang="en-GB" sz="2400" dirty="0">
                <a:latin typeface="Times New Roman"/>
                <a:ea typeface="+mn-lt"/>
                <a:cs typeface="+mn-lt"/>
              </a:rPr>
              <a:t>, vol. 1, no. 2, pp. 65–73, 2024. </a:t>
            </a:r>
            <a:endParaRPr lang="en-GB" dirty="0">
              <a:latin typeface="Times New Roman"/>
              <a:cs typeface="Times New Roman"/>
            </a:endParaRPr>
          </a:p>
          <a:p>
            <a:r>
              <a:rPr lang="en-GB" sz="2400" dirty="0">
                <a:latin typeface="Times New Roman"/>
                <a:ea typeface="+mn-lt"/>
                <a:cs typeface="+mn-lt"/>
              </a:rPr>
              <a:t>[3] S. </a:t>
            </a:r>
            <a:r>
              <a:rPr lang="en-GB" sz="2400" err="1">
                <a:latin typeface="Times New Roman"/>
                <a:ea typeface="+mn-lt"/>
                <a:cs typeface="+mn-lt"/>
              </a:rPr>
              <a:t>Padmalal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et al., “A real-time design for dense crowd enumeration via tracking using AI system,” </a:t>
            </a:r>
            <a:r>
              <a:rPr lang="en-GB" sz="2400" i="1" dirty="0">
                <a:latin typeface="Times New Roman"/>
                <a:ea typeface="+mn-lt"/>
                <a:cs typeface="+mn-lt"/>
              </a:rPr>
              <a:t>AIP Conference Proceedings</a:t>
            </a:r>
            <a:r>
              <a:rPr lang="en-GB" sz="2400" dirty="0">
                <a:latin typeface="Times New Roman"/>
                <a:ea typeface="+mn-lt"/>
                <a:cs typeface="+mn-lt"/>
              </a:rPr>
              <a:t>, 2025. </a:t>
            </a:r>
            <a:endParaRPr lang="en-GB" dirty="0">
              <a:latin typeface="Times New Roman"/>
              <a:ea typeface="+mn-lt"/>
              <a:cs typeface="+mn-lt"/>
            </a:endParaRPr>
          </a:p>
          <a:p>
            <a:r>
              <a:rPr lang="en-GB" sz="2400" dirty="0">
                <a:latin typeface="Times New Roman"/>
                <a:ea typeface="+mn-lt"/>
                <a:cs typeface="+mn-lt"/>
              </a:rPr>
              <a:t>[4] R. Chavan et al., “</a:t>
            </a:r>
            <a:r>
              <a:rPr lang="en-GB" sz="2400" err="1">
                <a:latin typeface="Times New Roman"/>
                <a:ea typeface="+mn-lt"/>
                <a:cs typeface="+mn-lt"/>
              </a:rPr>
              <a:t>CrowdDCNN</a:t>
            </a:r>
            <a:r>
              <a:rPr lang="en-GB" sz="2400" dirty="0">
                <a:latin typeface="Times New Roman"/>
                <a:ea typeface="+mn-lt"/>
                <a:cs typeface="+mn-lt"/>
              </a:rPr>
              <a:t>: Deep convolution neural network for real- time crowd counting on IoT edge,” </a:t>
            </a:r>
            <a:r>
              <a:rPr lang="en-GB" sz="2400" i="1" dirty="0">
                <a:latin typeface="Times New Roman"/>
                <a:ea typeface="+mn-lt"/>
                <a:cs typeface="+mn-lt"/>
              </a:rPr>
              <a:t>Eng. Appl. AI</a:t>
            </a:r>
            <a:r>
              <a:rPr lang="en-GB" sz="2400" dirty="0">
                <a:latin typeface="Times New Roman"/>
                <a:ea typeface="+mn-lt"/>
                <a:cs typeface="+mn-lt"/>
              </a:rPr>
              <a:t>, 2023. </a:t>
            </a:r>
            <a:endParaRPr lang="en-GB" dirty="0">
              <a:latin typeface="Times New Roman"/>
              <a:cs typeface="Times New Roman"/>
            </a:endParaRPr>
          </a:p>
          <a:p>
            <a:r>
              <a:rPr lang="en-GB" sz="2400" dirty="0">
                <a:latin typeface="Times New Roman"/>
                <a:ea typeface="+mn-lt"/>
                <a:cs typeface="+mn-lt"/>
              </a:rPr>
              <a:t>[5] A. A. Lubis, A. </a:t>
            </a:r>
            <a:r>
              <a:rPr lang="en-GB" sz="2400" err="1">
                <a:latin typeface="Times New Roman"/>
                <a:ea typeface="+mn-lt"/>
                <a:cs typeface="+mn-lt"/>
              </a:rPr>
              <a:t>Prasasta</a:t>
            </a:r>
            <a:r>
              <a:rPr lang="en-GB" sz="2400" dirty="0">
                <a:latin typeface="Times New Roman"/>
                <a:ea typeface="+mn-lt"/>
                <a:cs typeface="+mn-lt"/>
              </a:rPr>
              <a:t>, and D. A. Sari, “Towards Efficient Crowd Counting and </a:t>
            </a:r>
            <a:r>
              <a:rPr lang="en-GB" sz="2400" err="1">
                <a:latin typeface="Times New Roman"/>
                <a:ea typeface="+mn-lt"/>
                <a:cs typeface="+mn-lt"/>
              </a:rPr>
              <a:t>Behavior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Analysis Using YOLOv11,” </a:t>
            </a:r>
            <a:r>
              <a:rPr lang="en-GB" sz="2400" i="1" dirty="0">
                <a:latin typeface="Times New Roman"/>
                <a:ea typeface="+mn-lt"/>
                <a:cs typeface="+mn-lt"/>
              </a:rPr>
              <a:t>Int. J. Tech. Model.</a:t>
            </a:r>
            <a:r>
              <a:rPr lang="en-GB" sz="2400" dirty="0">
                <a:latin typeface="Times New Roman"/>
                <a:ea typeface="+mn-lt"/>
                <a:cs typeface="+mn-lt"/>
              </a:rPr>
              <a:t>, vol. 4, no. 1, pp. 35–47, 2025.</a:t>
            </a:r>
            <a:endParaRPr lang="en-GB" dirty="0">
              <a:latin typeface="Times New Roman"/>
              <a:ea typeface="+mn-lt"/>
              <a:cs typeface="+mn-lt"/>
            </a:endParaRPr>
          </a:p>
          <a:p>
            <a:pPr algn="l"/>
            <a:endParaRPr lang="en-GB" sz="24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2433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597159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170645"/>
            <a:ext cx="12192000" cy="6531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4838" t="15903" r="80444" b="14279"/>
          <a:stretch/>
        </p:blipFill>
        <p:spPr>
          <a:xfrm>
            <a:off x="89332" y="6336615"/>
            <a:ext cx="423852" cy="522677"/>
          </a:xfrm>
          <a:prstGeom prst="rect">
            <a:avLst/>
          </a:prstGeom>
        </p:spPr>
      </p:pic>
      <p:sp>
        <p:nvSpPr>
          <p:cNvPr id="9" name="object 7"/>
          <p:cNvSpPr txBox="1">
            <a:spLocks/>
          </p:cNvSpPr>
          <p:nvPr/>
        </p:nvSpPr>
        <p:spPr>
          <a:xfrm>
            <a:off x="5964283" y="6356406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19/01/2026</a:t>
            </a:r>
            <a:endParaRPr lang="en-US" dirty="0"/>
          </a:p>
        </p:txBody>
      </p:sp>
      <p:sp>
        <p:nvSpPr>
          <p:cNvPr id="10" name="object 7"/>
          <p:cNvSpPr txBox="1">
            <a:spLocks/>
          </p:cNvSpPr>
          <p:nvPr/>
        </p:nvSpPr>
        <p:spPr>
          <a:xfrm>
            <a:off x="11200668" y="6437651"/>
            <a:ext cx="92290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b="1" dirty="0"/>
              <a:t>Page no. 15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611092" y="2475030"/>
            <a:ext cx="2706381" cy="10404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41984"/>
                </a:solidFill>
                <a:latin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83848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1399</Words>
  <Application>Microsoft Office PowerPoint</Application>
  <PresentationFormat>Widescreen</PresentationFormat>
  <Paragraphs>158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Shakti Prasad Sethi</dc:creator>
  <cp:lastModifiedBy>Abhi M</cp:lastModifiedBy>
  <cp:revision>225</cp:revision>
  <dcterms:created xsi:type="dcterms:W3CDTF">2025-11-08T12:47:30Z</dcterms:created>
  <dcterms:modified xsi:type="dcterms:W3CDTF">2026-03-10T08:49:17Z</dcterms:modified>
</cp:coreProperties>
</file>